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445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19.12.2025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19.12.2025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19.12.2025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19.12.2025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19.12.2025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19.12.2025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85786" y="2928934"/>
            <a:ext cx="7772400" cy="1470025"/>
          </a:xfrm>
        </p:spPr>
        <p:txBody>
          <a:bodyPr/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МЕТОДЫ ТРЕКИНГА ОБЪЕКТА НА ВИДЕО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43636" y="785794"/>
            <a:ext cx="27077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Выполнили: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Косенко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Данил</a:t>
            </a:r>
          </a:p>
          <a:p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Небывалов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Максим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428604"/>
            <a:ext cx="8086724" cy="714380"/>
          </a:xfrm>
        </p:spPr>
        <p:txBody>
          <a:bodyPr/>
          <a:lstStyle/>
          <a:p>
            <a:pPr algn="l"/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Цель работы</a:t>
            </a:r>
            <a:endParaRPr lang="ru-RU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71472" y="1214422"/>
            <a:ext cx="8158162" cy="1143008"/>
          </a:xfrm>
        </p:spPr>
        <p:txBody>
          <a:bodyPr>
            <a:normAutofit/>
          </a:bodyPr>
          <a:lstStyle/>
          <a:p>
            <a:pPr marL="0" indent="447675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Проведение сравнительного анализа трёх методов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трекинга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объекта на видео с целью обнаружения плюсов и минусов каждого метода при его применении в различных ситуациях.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Содержимое 2"/>
          <p:cNvSpPr txBox="1">
            <a:spLocks/>
          </p:cNvSpPr>
          <p:nvPr/>
        </p:nvSpPr>
        <p:spPr>
          <a:xfrm>
            <a:off x="652434" y="3286124"/>
            <a:ext cx="8229600" cy="2928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indent="447675">
              <a:spcBef>
                <a:spcPct val="20000"/>
              </a:spcBef>
            </a:pP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Трекинг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объектов – это процесс определения и непрерывного мониторинга положения одного или нескольких движущихся объектов на видео, связывающий их перемещение во времени, чтобы понять, куда они двигались и куда направляются, в отличие от простого обнаружения на отдельных кадрах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детекция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0" indent="447675">
              <a:spcBef>
                <a:spcPct val="20000"/>
              </a:spcBef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509558" y="2428868"/>
            <a:ext cx="8229600" cy="774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Основное понятие</a:t>
            </a:r>
            <a:endParaRPr kumimoji="0" lang="ru-RU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Информация об используемых видео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142844" y="857231"/>
          <a:ext cx="8858312" cy="49977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392"/>
                <a:gridCol w="1537912"/>
                <a:gridCol w="1076538"/>
                <a:gridCol w="1055198"/>
                <a:gridCol w="1214446"/>
                <a:gridCol w="1928826"/>
              </a:tblGrid>
              <a:tr h="849235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Название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Разрешение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FPS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Кодек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Длительность</a:t>
                      </a:r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 (</a:t>
                      </a:r>
                      <a:r>
                        <a:rPr lang="ru-RU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секунды</a:t>
                      </a:r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Описание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  <a:tr h="122246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camera_follows_car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1920</a:t>
                      </a:r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x1080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30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h264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Камера следует за объектом</a:t>
                      </a:r>
                      <a:r>
                        <a:rPr lang="ru-RU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автомобиля, средняя скорость перемещения объекта, окклюзия в конце видео</a:t>
                      </a:r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(</a:t>
                      </a:r>
                      <a:r>
                        <a:rPr lang="ru-RU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выход за рамки</a:t>
                      </a:r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0778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car_front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1920x1080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24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h264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18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Медленное движение автомобиля спереди, небольшая окклюзия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0778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distancing_cars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1920</a:t>
                      </a:r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x1080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24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h264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18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Автомобиль отдаляется</a:t>
                      </a:r>
                      <a:r>
                        <a:rPr lang="ru-RU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и становится меньше, окклюзия в конце видео</a:t>
                      </a:r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(</a:t>
                      </a:r>
                      <a:r>
                        <a:rPr lang="ru-RU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выход за рамки</a:t>
                      </a:r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0778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off_road_car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1920</a:t>
                      </a:r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x1080</a:t>
                      </a:r>
                      <a:endParaRPr lang="ru-RU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30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h264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Сильная окклюзия (объект перекрывается), средняя скорость движения автомобиля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0778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zoom_cars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1920</a:t>
                      </a:r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x1080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24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h264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Автомобиль</a:t>
                      </a:r>
                      <a:r>
                        <a:rPr lang="ru-RU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исчезает из кадра, а затем появляется; много схожих объектов</a:t>
                      </a:r>
                      <a:endParaRPr lang="ru-RU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57166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Выбранные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трекеры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525963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arenR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KCF (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Kernelized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Correlation Filters)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arenR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CSRT (Channel and Spatial Reliability Tracking)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arenR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MOSSE (Minimum Output Sum of Squared Error)</a:t>
            </a:r>
            <a:endParaRPr lang="ru-RU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Эти </a:t>
            </a:r>
            <a:r>
              <a:rPr lang="ru-RU" sz="1800" dirty="0" err="1" smtClean="0">
                <a:latin typeface="Times New Roman" pitchFamily="18" charset="0"/>
                <a:cs typeface="Times New Roman" pitchFamily="18" charset="0"/>
              </a:rPr>
              <a:t>трекеры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 были выбраны, потому что они относятся к одному классу – корреляционно-фильтровые </a:t>
            </a:r>
            <a:r>
              <a:rPr lang="ru-RU" sz="1800" dirty="0" err="1" smtClean="0">
                <a:latin typeface="Times New Roman" pitchFamily="18" charset="0"/>
                <a:cs typeface="Times New Roman" pitchFamily="18" charset="0"/>
              </a:rPr>
              <a:t>трекеры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Discriminative Correlation Filter, DCF)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. Различия между ними обусловлены именно улучшениями внутри одной архитектурной парадигмы, а не радикально разными подходами.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Например, у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MOSSE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максимальная скорость работы, хуже точность; у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CSRT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высокая точность, но низкая скорость работы; 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KCF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наиболее сбалансирован в плане скорости работы и точности.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По каким параметрам оценивались методы</a:t>
            </a: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Учёт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исчезновения объекта за кадром или перекрытие его другим объектом (окклюзия)</a:t>
            </a:r>
          </a:p>
          <a:p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Обнаружение объекта после того как он снова стал видимым</a:t>
            </a:r>
          </a:p>
          <a:p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Умение различать однотипные объекты</a:t>
            </a:r>
          </a:p>
          <a:p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Не увеличивается ли размер области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трекинга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при уменьшении размера объекта вследствие его отдаления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ru-RU" sz="4000" b="1" dirty="0" smtClean="0">
                <a:latin typeface="Times New Roman" pitchFamily="18" charset="0"/>
                <a:cs typeface="Times New Roman" pitchFamily="18" charset="0"/>
              </a:rPr>
              <a:t>Видео 1</a:t>
            </a: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4000" b="1" dirty="0" err="1" smtClean="0">
                <a:latin typeface="Times New Roman" pitchFamily="18" charset="0"/>
                <a:cs typeface="Times New Roman" pitchFamily="18" charset="0"/>
              </a:rPr>
              <a:t>camera_follows_car</a:t>
            </a:r>
            <a:endParaRPr lang="ru-RU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CSRT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уменьшает границы рамки вокруг объекта, правильно реагирует, когда объект пропадает из кадра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KCF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практически правильно определяет границы объекта, правильно реагирует, когда объект пропадает из кадра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MOSSE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наиболее правильно определяет границы объекта, но рамка остаётся, когда объект уже пропал из кадра</a:t>
            </a:r>
          </a:p>
          <a:p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Наиболее приемлемые результаты для видео 1 показал метод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KCF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ru-RU" sz="4000" b="1" dirty="0" smtClean="0">
                <a:latin typeface="Times New Roman" pitchFamily="18" charset="0"/>
                <a:cs typeface="Times New Roman" pitchFamily="18" charset="0"/>
              </a:rPr>
              <a:t>Видео </a:t>
            </a: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2: </a:t>
            </a:r>
            <a:r>
              <a:rPr lang="en-US" sz="4000" b="1" dirty="0" err="1" smtClean="0">
                <a:latin typeface="Times New Roman" pitchFamily="18" charset="0"/>
                <a:cs typeface="Times New Roman" pitchFamily="18" charset="0"/>
              </a:rPr>
              <a:t>car_front</a:t>
            </a:r>
            <a:endParaRPr lang="ru-RU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CSRT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верно отслеживает объект до конца видео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KCF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не захватывает с помощью рамки объект полностью с приближением к концу видео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MOSSE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верно отслеживает объект до конца видео</a:t>
            </a:r>
          </a:p>
          <a:p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Наиболее приемлемые результаты для видео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показали методы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CSRT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MOSSE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ru-RU" sz="4000" b="1" dirty="0" smtClean="0">
                <a:latin typeface="Times New Roman" pitchFamily="18" charset="0"/>
                <a:cs typeface="Times New Roman" pitchFamily="18" charset="0"/>
              </a:rPr>
              <a:t>Видео </a:t>
            </a: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3: </a:t>
            </a:r>
            <a:r>
              <a:rPr lang="en-US" sz="4000" b="1" dirty="0" err="1" smtClean="0">
                <a:latin typeface="Times New Roman" pitchFamily="18" charset="0"/>
                <a:cs typeface="Times New Roman" pitchFamily="18" charset="0"/>
              </a:rPr>
              <a:t>distancing_cars</a:t>
            </a:r>
            <a:endParaRPr lang="ru-RU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CSRT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верно отслеживает объект до момента, когда он пропадает за другим объектом, в этом случае рамка остаётся на месте последнего появления объекта; рамка объекта определяется верно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KCF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увеличивает границы рамки вокруг объекта, при этом когда объект пропадает за другим объектом, рамка остаётся на месте последнего появления объекта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MOSSE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увеличивает границы рамки вокруг объекта, при этом когда объект пропадает за другим объектом, рамка остаётся на месте последнего появления объекта </a:t>
            </a:r>
          </a:p>
          <a:p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Наиболее приемлемые результаты для видео 3 показал метод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CSRT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ru-RU" sz="4000" b="1" dirty="0" smtClean="0">
                <a:latin typeface="Times New Roman" pitchFamily="18" charset="0"/>
                <a:cs typeface="Times New Roman" pitchFamily="18" charset="0"/>
              </a:rPr>
              <a:t>Видео 4</a:t>
            </a: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4000" b="1" dirty="0" err="1" smtClean="0">
                <a:latin typeface="Times New Roman" pitchFamily="18" charset="0"/>
                <a:cs typeface="Times New Roman" pitchFamily="18" charset="0"/>
              </a:rPr>
              <a:t>off_road_car</a:t>
            </a:r>
            <a:endParaRPr lang="ru-RU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CSRT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окклюзии объект теряется, не происходит его повторное обнаружение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KCF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окклюзии объект теряется, не происходит его повторное обнаружение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MOSSE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окклюзии объект теряется, не происходит его повторное обнаружение</a:t>
            </a:r>
          </a:p>
          <a:p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Все 3 метода показали неудовлетворительные результаты: при окклюзии объект прекращает отслеживаться.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ru-RU" sz="4000" b="1" dirty="0" smtClean="0">
                <a:latin typeface="Times New Roman" pitchFamily="18" charset="0"/>
                <a:cs typeface="Times New Roman" pitchFamily="18" charset="0"/>
              </a:rPr>
              <a:t>Видео 5</a:t>
            </a: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4000" b="1" dirty="0" err="1" smtClean="0">
                <a:latin typeface="Times New Roman" pitchFamily="18" charset="0"/>
                <a:cs typeface="Times New Roman" pitchFamily="18" charset="0"/>
              </a:rPr>
              <a:t>zoom_cars</a:t>
            </a:r>
            <a:endParaRPr lang="ru-RU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CSRT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выходе объекта за пределы кадра начинает отслеживать другие похожие объекты, после появления исходного объекта не переключается на него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KCF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выходе объекта за пределы отображает, что объект потерян, после появления исходного объекта не переключается на него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MOSSE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выходе объекта за пределы кадра начинает отслеживать другие похожие объекты, после появления исходного объекта не переключается на него</a:t>
            </a:r>
          </a:p>
          <a:p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Наиболее приемлемые результаты для видео 3 показал метод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KCF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Плюсы и минусы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CSRT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Плюсы: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61950" indent="-361950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Устойчиво отслеживает объект даже при его отдалении (видео 3).</a:t>
            </a:r>
          </a:p>
          <a:p>
            <a:pPr marL="361950" indent="-361950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Корректно уменьшает границы рамки при уменьшении размера объекта (видео 1).</a:t>
            </a:r>
          </a:p>
          <a:p>
            <a:pPr marL="361950" indent="-361950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Не теряет объект при его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отдалении (видео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3).</a:t>
            </a:r>
          </a:p>
          <a:p>
            <a:pPr marL="0" indent="0"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Минусы: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61950" indent="-361950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 окклюзии объект теряется без возможности повторного обнаружения (видео 4).</a:t>
            </a:r>
          </a:p>
          <a:p>
            <a:pPr marL="361950" indent="-361950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Может начать отслеживать другие похожие объекты при выходе целевого объекта из кадра (видео 5).</a:t>
            </a:r>
          </a:p>
          <a:p>
            <a:pPr marL="361950" indent="-361950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Не всегда переключается обратно на исходный объект после его появления (видео 5).</a:t>
            </a:r>
          </a:p>
          <a:p>
            <a:pPr>
              <a:buNone/>
            </a:pPr>
            <a:r>
              <a:rPr lang="ru-RU" sz="2000" dirty="0" smtClean="0"/>
              <a:t/>
            </a:r>
            <a:br>
              <a:rPr lang="ru-RU" sz="2000" dirty="0" smtClean="0"/>
            </a:b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Плюсы и минусы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KCF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291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Плюсы: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61950" indent="-361950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Хорошо справляется с ситуациями, когда объект пропадает из кадра (правильно реагирует на исчезновение).</a:t>
            </a:r>
          </a:p>
          <a:p>
            <a:pPr marL="361950" indent="-361950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некоторых случаях демонстрирует стабильное отслеживание при приближении объекта к камере (видео 1).</a:t>
            </a:r>
          </a:p>
          <a:p>
            <a:pPr marL="361950" indent="-361950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Не склонен к переключению на другие объекты при выходе целевого объекта за пределы кадра (видео 5).</a:t>
            </a:r>
          </a:p>
          <a:p>
            <a:pPr marL="0" indent="0"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Минусы: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 окклюзии (перекрытии другим объектом) теряет объект и не восстанавливает отслеживание (видео 4).</a:t>
            </a: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Может некорректно определять границы объекта при его приближении (видео 2).</a:t>
            </a: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 отдалении объекта может увеличивать область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трекинга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что снижает точность (видео 3).</a:t>
            </a:r>
          </a:p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Плюсы и минусы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MOSSE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291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Плюсы: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361950" indent="-361950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Наиболее точно определяет границы объекта (видео 1).</a:t>
            </a:r>
          </a:p>
          <a:p>
            <a:pPr marL="361950" indent="-361950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Стабильно отслеживает объект при его приближении к камере (видео 2).</a:t>
            </a:r>
          </a:p>
          <a:p>
            <a:pPr marL="361950" indent="-361950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Не теряет объект при его отдалении (видео 3).</a:t>
            </a:r>
          </a:p>
          <a:p>
            <a:pPr marL="0" indent="0">
              <a:buNone/>
            </a:pP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Минусы: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Не удаляет рамку после исчезновения объекта из кадра (видео 1).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окклюзии теряет объект без восстановления (видео 4).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Может переключаться на другие похожие объекты при выходе целевого из кадра (видео 5).</a:t>
            </a:r>
          </a:p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Оценка работы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трекеров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5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latin typeface="Times New Roman" pitchFamily="18" charset="0"/>
                          <a:cs typeface="Times New Roman" pitchFamily="18" charset="0"/>
                        </a:rPr>
                        <a:t>Параметр оценки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latin typeface="Times New Roman" pitchFamily="18" charset="0"/>
                          <a:cs typeface="Times New Roman" pitchFamily="18" charset="0"/>
                        </a:rPr>
                        <a:t>KCF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latin typeface="Times New Roman" pitchFamily="18" charset="0"/>
                          <a:cs typeface="Times New Roman" pitchFamily="18" charset="0"/>
                        </a:rPr>
                        <a:t>CSRT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latin typeface="Times New Roman" pitchFamily="18" charset="0"/>
                          <a:cs typeface="Times New Roman" pitchFamily="18" charset="0"/>
                        </a:rPr>
                        <a:t>MOSSE</a:t>
                      </a:r>
                    </a:p>
                  </a:txBody>
                  <a:tcPr marL="121920" marR="12192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latin typeface="Times New Roman" pitchFamily="18" charset="0"/>
                          <a:cs typeface="Times New Roman" pitchFamily="18" charset="0"/>
                        </a:rPr>
                        <a:t>Устойчивость к окклюзии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latin typeface="Times New Roman" pitchFamily="18" charset="0"/>
                          <a:cs typeface="Times New Roman" pitchFamily="18" charset="0"/>
                        </a:rPr>
                        <a:t>Низкая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latin typeface="Times New Roman" pitchFamily="18" charset="0"/>
                          <a:cs typeface="Times New Roman" pitchFamily="18" charset="0"/>
                        </a:rPr>
                        <a:t>Низкая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latin typeface="Times New Roman" pitchFamily="18" charset="0"/>
                          <a:cs typeface="Times New Roman" pitchFamily="18" charset="0"/>
                        </a:rPr>
                        <a:t>Низкая</a:t>
                      </a:r>
                    </a:p>
                  </a:txBody>
                  <a:tcPr marL="12192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latin typeface="Times New Roman" pitchFamily="18" charset="0"/>
                          <a:cs typeface="Times New Roman" pitchFamily="18" charset="0"/>
                        </a:rPr>
                        <a:t>Повторное обнаружение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latin typeface="Times New Roman" pitchFamily="18" charset="0"/>
                          <a:cs typeface="Times New Roman" pitchFamily="18" charset="0"/>
                        </a:rPr>
                        <a:t>Отсутствует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latin typeface="Times New Roman" pitchFamily="18" charset="0"/>
                          <a:cs typeface="Times New Roman" pitchFamily="18" charset="0"/>
                        </a:rPr>
                        <a:t>Отсутствует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latin typeface="Times New Roman" pitchFamily="18" charset="0"/>
                          <a:cs typeface="Times New Roman" pitchFamily="18" charset="0"/>
                        </a:rPr>
                        <a:t>Отсутствует</a:t>
                      </a:r>
                    </a:p>
                  </a:txBody>
                  <a:tcPr marL="12192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latin typeface="Times New Roman" pitchFamily="18" charset="0"/>
                          <a:cs typeface="Times New Roman" pitchFamily="18" charset="0"/>
                        </a:rPr>
                        <a:t>Точность границ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latin typeface="Times New Roman" pitchFamily="18" charset="0"/>
                          <a:cs typeface="Times New Roman" pitchFamily="18" charset="0"/>
                        </a:rPr>
                        <a:t>Средняя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latin typeface="Times New Roman" pitchFamily="18" charset="0"/>
                          <a:cs typeface="Times New Roman" pitchFamily="18" charset="0"/>
                        </a:rPr>
                        <a:t>Высокая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 smtClean="0">
                          <a:latin typeface="Times New Roman" pitchFamily="18" charset="0"/>
                          <a:cs typeface="Times New Roman" pitchFamily="18" charset="0"/>
                        </a:rPr>
                        <a:t>Высокая</a:t>
                      </a:r>
                      <a:endParaRPr lang="ru-RU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latin typeface="Times New Roman" pitchFamily="18" charset="0"/>
                          <a:cs typeface="Times New Roman" pitchFamily="18" charset="0"/>
                        </a:rPr>
                        <a:t>Различение однотипных объектов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latin typeface="Times New Roman" pitchFamily="18" charset="0"/>
                          <a:cs typeface="Times New Roman" pitchFamily="18" charset="0"/>
                        </a:rPr>
                        <a:t>Среднее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latin typeface="Times New Roman" pitchFamily="18" charset="0"/>
                          <a:cs typeface="Times New Roman" pitchFamily="18" charset="0"/>
                        </a:rPr>
                        <a:t>Низкое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latin typeface="Times New Roman" pitchFamily="18" charset="0"/>
                          <a:cs typeface="Times New Roman" pitchFamily="18" charset="0"/>
                        </a:rPr>
                        <a:t>Низкое</a:t>
                      </a:r>
                    </a:p>
                  </a:txBody>
                  <a:tcPr marL="12192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latin typeface="Times New Roman" pitchFamily="18" charset="0"/>
                          <a:cs typeface="Times New Roman" pitchFamily="18" charset="0"/>
                        </a:rPr>
                        <a:t>Адаптация к изменению размера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latin typeface="Times New Roman" pitchFamily="18" charset="0"/>
                          <a:cs typeface="Times New Roman" pitchFamily="18" charset="0"/>
                        </a:rPr>
                        <a:t>Средняя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latin typeface="Times New Roman" pitchFamily="18" charset="0"/>
                          <a:cs typeface="Times New Roman" pitchFamily="18" charset="0"/>
                        </a:rPr>
                        <a:t>Высокая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latin typeface="Times New Roman" pitchFamily="18" charset="0"/>
                          <a:cs typeface="Times New Roman" pitchFamily="18" charset="0"/>
                        </a:rPr>
                        <a:t>Средняя</a:t>
                      </a:r>
                    </a:p>
                  </a:txBody>
                  <a:tcPr marL="121920" marT="76200" marB="762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Выводы: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KCF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наиболее устойчив к исчезновению объекта из кадра (видит, что объект исчез), но слабо справляется с переключением при окклюзии и изменением масштаба.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CSRT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демонстрирует высокую точность и адаптивность к изменению размера объекта, но склонен к переключению на другие объекты.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MOSSE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отличается максимальной точностью определения границ (в простых условиях: хороший контраст, нет сильных деформаций), но неэффективен при исчезновении объекта и окклюзии.</a:t>
            </a:r>
          </a:p>
          <a:p>
            <a:pPr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824</Words>
  <PresentationFormat>Экран (4:3)</PresentationFormat>
  <Paragraphs>145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Тема Office</vt:lpstr>
      <vt:lpstr>МЕТОДЫ ТРЕКИНГА ОБЪЕКТА НА ВИДЕО</vt:lpstr>
      <vt:lpstr>Цель работы</vt:lpstr>
      <vt:lpstr>Информация об используемых видео</vt:lpstr>
      <vt:lpstr>Выбранные трекеры</vt:lpstr>
      <vt:lpstr>По каким параметрам оценивались методы</vt:lpstr>
      <vt:lpstr>Видео 1: camera_follows_car</vt:lpstr>
      <vt:lpstr>Видео 2: car_front</vt:lpstr>
      <vt:lpstr>Видео 3: distancing_cars</vt:lpstr>
      <vt:lpstr>Видео 4: off_road_car</vt:lpstr>
      <vt:lpstr>Видео 5: zoom_cars</vt:lpstr>
      <vt:lpstr>Плюсы и минусы CSRT</vt:lpstr>
      <vt:lpstr>Плюсы и минусы KCF</vt:lpstr>
      <vt:lpstr>Плюсы и минусы MOSSE</vt:lpstr>
      <vt:lpstr>Оценка работы трекеров</vt:lpstr>
      <vt:lpstr>Выводы: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МЕТОДЫ ТРЕКИНГА ОБЪЕКТА НА ВИДЕО</dc:title>
  <dc:creator>Данил</dc:creator>
  <cp:lastModifiedBy>Данил</cp:lastModifiedBy>
  <cp:revision>123</cp:revision>
  <dcterms:created xsi:type="dcterms:W3CDTF">2025-12-07T15:21:49Z</dcterms:created>
  <dcterms:modified xsi:type="dcterms:W3CDTF">2025-12-18T21:47:22Z</dcterms:modified>
</cp:coreProperties>
</file>